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1" d="100"/>
          <a:sy n="51" d="100"/>
        </p:scale>
        <p:origin x="1877" y="6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harunshimanto/epileptic-seizure-recognition" TargetMode="External"/><Relationship Id="rId2" Type="http://schemas.openxmlformats.org/officeDocument/2006/relationships/hyperlink" Target="https://archive.ics.uci.edu/dataset/1134/beed:+bangalore+eeg+epilepsy+datase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515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dirty="0">
                <a:solidFill>
                  <a:srgbClr val="154C42"/>
                </a:solidFill>
                <a:latin typeface="Calibri"/>
              </a:rPr>
              <a:t>About 50 million people worldwide live with epilepsy.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515600" cy="1774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dirty="0">
                <a:solidFill>
                  <a:srgbClr val="2A2E35"/>
                </a:solidFill>
                <a:latin typeface="Calibri"/>
              </a:rPr>
              <a:t>Detecting seizures from EEG with machine learning:</a:t>
            </a:r>
          </a:p>
          <a:p>
            <a:pPr algn="l">
              <a:spcAft>
                <a:spcPts val="400"/>
              </a:spcAft>
            </a:pPr>
            <a:r>
              <a:rPr sz="2400" b="0" dirty="0">
                <a:latin typeface="Calibri"/>
              </a:rPr>
              <a:t>a Random Forest vs an SVM compared on two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6340" y="5922977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000" b="0" dirty="0">
                <a:latin typeface="Calibri"/>
              </a:rPr>
              <a:t>- Janeika Jeyakanthan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97880"/>
            <a:ext cx="2377440" cy="18288"/>
          </a:xfrm>
          <a:prstGeom prst="rect">
            <a:avLst/>
          </a:prstGeom>
          <a:solidFill>
            <a:srgbClr val="D9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6E60"/>
                </a:solidFill>
                <a:latin typeface="Calibri"/>
              </a:rPr>
              <a:t>WHY THIS PROBLEM</a:t>
            </a:r>
            <a:r>
              <a:rPr lang="en-US" sz="2000" b="1" dirty="0">
                <a:solidFill>
                  <a:srgbClr val="1F6E60"/>
                </a:solidFill>
                <a:latin typeface="Calibri"/>
              </a:rPr>
              <a:t>?</a:t>
            </a:r>
            <a:endParaRPr sz="20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Seizures</a:t>
            </a:r>
            <a:r>
              <a:rPr lang="en-US" sz="3400" b="1" dirty="0">
                <a:solidFill>
                  <a:srgbClr val="2A2E35"/>
                </a:solidFill>
                <a:latin typeface="Calibri"/>
              </a:rPr>
              <a:t> hide in the signal - and a miss is the costly error</a:t>
            </a:r>
            <a:endParaRPr sz="3400" b="1" dirty="0">
              <a:solidFill>
                <a:srgbClr val="2A2E35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2200" b="0" dirty="0">
                <a:latin typeface="Calibri"/>
              </a:rPr>
              <a:t>EEG review is slow and specialist-heavy, and in clinical care a missed seizure is far more serious than a false alarm.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3520440"/>
            <a:ext cx="1828800" cy="27432"/>
          </a:xfrm>
          <a:prstGeom prst="rect">
            <a:avLst/>
          </a:prstGeom>
          <a:solidFill>
            <a:srgbClr val="D9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97796"/>
            <a:ext cx="10360152" cy="1405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200" b="0" dirty="0">
                <a:latin typeface="Calibri"/>
              </a:rPr>
              <a:t>This mirrors the role I</a:t>
            </a:r>
            <a:r>
              <a:rPr lang="en-US" sz="2200" b="0" dirty="0">
                <a:latin typeface="Calibri"/>
              </a:rPr>
              <a:t>’m interested </a:t>
            </a:r>
            <a:r>
              <a:rPr sz="2200" b="0" dirty="0">
                <a:latin typeface="Calibri"/>
              </a:rPr>
              <a:t>for: a Junior Data Scientist using machine learning on complex healthcare datasets to support epilepsy research.</a:t>
            </a:r>
          </a:p>
          <a:p>
            <a:pPr marL="285750" indent="-2857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200" b="0" dirty="0">
                <a:latin typeface="Calibri"/>
              </a:rPr>
              <a:t>That is why the whole analysis is framed around a simple yes/no clinical question: is this recording a seizure or not?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6E60"/>
                </a:solidFill>
                <a:latin typeface="Calibri"/>
              </a:rPr>
              <a:t>A</a:t>
            </a:r>
            <a:r>
              <a:rPr lang="en-US" sz="2000" b="1" dirty="0">
                <a:solidFill>
                  <a:srgbClr val="1F6E60"/>
                </a:solidFill>
                <a:latin typeface="Calibri"/>
              </a:rPr>
              <a:t>BOUT THE DATASET</a:t>
            </a:r>
            <a:endParaRPr sz="20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Two public EEG datasets 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4920" y="3096697"/>
            <a:ext cx="4389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 dirty="0">
                <a:solidFill>
                  <a:srgbClr val="154C42"/>
                </a:solidFill>
                <a:latin typeface="Calibri"/>
              </a:rPr>
              <a:t>BEED - </a:t>
            </a:r>
            <a:r>
              <a:rPr lang="en-IN" dirty="0"/>
              <a:t>Bangalore EEG Epilepsy Dataset, UCI</a:t>
            </a:r>
            <a:endParaRPr sz="1900" b="1" dirty="0">
              <a:solidFill>
                <a:srgbClr val="154C4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2621" y="3698288"/>
            <a:ext cx="3872027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1600" b="0" dirty="0">
                <a:latin typeface="Calibri"/>
              </a:rPr>
              <a:t>Bangalore EEG Epilepsy Dataset (UCI): </a:t>
            </a:r>
            <a:r>
              <a:rPr lang="en-US" sz="1600" b="0" dirty="0">
                <a:latin typeface="Calibri"/>
              </a:rPr>
              <a:t>       </a:t>
            </a:r>
            <a:r>
              <a:rPr sz="1600" b="0" dirty="0">
                <a:latin typeface="Calibri"/>
              </a:rPr>
              <a:t>8,000 recordings, 16 channel-summary features, 4 classes (healthy + 3 seizure types).</a:t>
            </a:r>
            <a:r>
              <a:rPr lang="en-US" sz="1600" b="0" dirty="0">
                <a:latin typeface="Calibri"/>
              </a:rPr>
              <a:t>[1]</a:t>
            </a:r>
            <a:endParaRPr sz="1600" b="0" dirty="0"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0" y="3291840"/>
            <a:ext cx="13716" cy="2011680"/>
          </a:xfrm>
          <a:prstGeom prst="rect">
            <a:avLst/>
          </a:prstGeom>
          <a:solidFill>
            <a:srgbClr val="D9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3096697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 dirty="0">
                <a:solidFill>
                  <a:srgbClr val="154C42"/>
                </a:solidFill>
                <a:latin typeface="Calibri"/>
              </a:rPr>
              <a:t>ESR - </a:t>
            </a:r>
            <a:r>
              <a:rPr lang="en-IN" dirty="0"/>
              <a:t>Epileptic Seizure Recognition, Kaggle</a:t>
            </a:r>
            <a:endParaRPr sz="1900" b="1" dirty="0">
              <a:solidFill>
                <a:srgbClr val="154C4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3659833"/>
            <a:ext cx="3714771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1600" b="0" dirty="0">
                <a:latin typeface="Calibri"/>
              </a:rPr>
              <a:t>Epileptic Seizure Recognition (Kaggle): 11,500 recordings, 178 raw EEG time points, 5 classes (seizure + 4 non-seizure).</a:t>
            </a:r>
            <a:r>
              <a:rPr lang="en-US" sz="1600" b="0" dirty="0">
                <a:latin typeface="Calibri"/>
              </a:rPr>
              <a:t>[2]</a:t>
            </a:r>
            <a:endParaRPr sz="1600" b="0" dirty="0"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899" y="5410574"/>
            <a:ext cx="103601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dirty="0">
                <a:latin typeface="Calibri"/>
              </a:rPr>
              <a:t>One gives clean engineered features the other raw noisy signals, so they represent two ends of real EEG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7" grpId="0"/>
      <p:bldP spid="8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6E60"/>
                </a:solidFill>
                <a:latin typeface="Calibri"/>
              </a:rPr>
              <a:t>WHAT I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Two</a:t>
            </a:r>
            <a:r>
              <a:rPr lang="en-US" sz="3400" b="1" dirty="0">
                <a:solidFill>
                  <a:srgbClr val="2A2E35"/>
                </a:solidFill>
                <a:latin typeface="Calibri"/>
              </a:rPr>
              <a:t> Different Machine Learning</a:t>
            </a:r>
            <a:r>
              <a:rPr sz="3400" b="1" dirty="0">
                <a:solidFill>
                  <a:srgbClr val="2A2E35"/>
                </a:solidFill>
                <a:latin typeface="Calibri"/>
              </a:rPr>
              <a:t>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3080" y="26060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E6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105" y="26746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dirty="0">
                <a:solidFill>
                  <a:srgbClr val="2A2E35"/>
                </a:solidFill>
                <a:latin typeface="Calibri"/>
              </a:rPr>
              <a:t>Frame 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678971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latin typeface="Calibri"/>
              </a:rPr>
              <a:t>Recode both datasets to a yes/no seizure target using documented class meanings.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E6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0105" y="3566160"/>
            <a:ext cx="2834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2A2E35"/>
                </a:solidFill>
                <a:latin typeface="Calibri"/>
              </a:rPr>
              <a:t>M</a:t>
            </a:r>
            <a:r>
              <a:rPr sz="1900" b="1" dirty="0">
                <a:solidFill>
                  <a:srgbClr val="2A2E35"/>
                </a:solidFill>
                <a:latin typeface="Calibri"/>
              </a:rPr>
              <a:t>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52044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latin typeface="Calibri"/>
              </a:rPr>
              <a:t>Random Forest (200 trees) and an RBF SVM - two genuinely different approaches.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434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E6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0105" y="4499178"/>
            <a:ext cx="2834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2A2E35"/>
                </a:solidFill>
                <a:latin typeface="Calibri"/>
              </a:rPr>
              <a:t>T</a:t>
            </a:r>
            <a:r>
              <a:rPr sz="1900" b="1" dirty="0">
                <a:solidFill>
                  <a:srgbClr val="2A2E35"/>
                </a:solidFill>
                <a:latin typeface="Calibri"/>
              </a:rPr>
              <a:t>est</a:t>
            </a:r>
            <a:r>
              <a:rPr lang="en-US" sz="1900" b="1" dirty="0">
                <a:solidFill>
                  <a:srgbClr val="2A2E35"/>
                </a:solidFill>
                <a:latin typeface="Calibri"/>
              </a:rPr>
              <a:t> and Train Phase</a:t>
            </a:r>
            <a:endParaRPr sz="1900" b="1" dirty="0">
              <a:solidFill>
                <a:srgbClr val="2A2E35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40680" y="443484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latin typeface="Calibri"/>
              </a:rPr>
              <a:t>80/20 stratified split with fixed seed 42</a:t>
            </a:r>
            <a:r>
              <a:rPr lang="en-US" sz="1500" b="0" dirty="0">
                <a:latin typeface="Calibri"/>
              </a:rPr>
              <a:t> and </a:t>
            </a:r>
            <a:r>
              <a:rPr sz="1500" b="0" dirty="0">
                <a:latin typeface="Calibri"/>
              </a:rPr>
              <a:t> scaler fitted on training data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3492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E6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0105" y="5413578"/>
            <a:ext cx="2834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2A2E35"/>
                </a:solidFill>
                <a:latin typeface="Calibri"/>
              </a:rPr>
              <a:t>Evaluation</a:t>
            </a:r>
            <a:endParaRPr sz="1900" b="1" dirty="0">
              <a:solidFill>
                <a:srgbClr val="2A2E35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40680" y="534924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latin typeface="Calibri"/>
              </a:rPr>
              <a:t>Accuracy, balanced accuracy, precision, recall, F1, AUC and confusion matrices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1F6E60"/>
                </a:solidFill>
                <a:latin typeface="Calibri"/>
              </a:rPr>
              <a:t>RESULTS </a:t>
            </a:r>
            <a:r>
              <a:rPr lang="en-IN" sz="2200" b="1" dirty="0">
                <a:solidFill>
                  <a:srgbClr val="1F6E60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1F6E60"/>
                </a:solidFill>
                <a:latin typeface="Calibri"/>
              </a:rPr>
              <a:t> BEED</a:t>
            </a:r>
            <a:r>
              <a:rPr lang="en-US" sz="2200" b="1" dirty="0">
                <a:solidFill>
                  <a:srgbClr val="1F6E60"/>
                </a:solidFill>
                <a:latin typeface="Calibri"/>
              </a:rPr>
              <a:t> DATASET</a:t>
            </a:r>
            <a:endParaRPr sz="22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3400" b="1" dirty="0">
                <a:solidFill>
                  <a:srgbClr val="2A2E35"/>
                </a:solidFill>
                <a:latin typeface="Calibri"/>
              </a:rPr>
              <a:t>OUTPUT</a:t>
            </a:r>
            <a:endParaRPr sz="3400" b="1" dirty="0">
              <a:solidFill>
                <a:srgbClr val="2A2E35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84648" y="1853781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2171188" y="2380854"/>
            <a:ext cx="10360152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500" b="1" dirty="0">
                <a:solidFill>
                  <a:srgbClr val="154C42"/>
                </a:solidFill>
                <a:latin typeface="Calibri"/>
              </a:rPr>
              <a:t>≈99.7%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68981" y="3599801"/>
            <a:ext cx="1036015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dirty="0">
                <a:latin typeface="Calibri"/>
              </a:rPr>
              <a:t>Random Forest accuracy 0.9975</a:t>
            </a:r>
            <a:r>
              <a:rPr lang="en-US" sz="2400" b="0" dirty="0">
                <a:latin typeface="Calibri"/>
              </a:rPr>
              <a:t>,</a:t>
            </a:r>
            <a:r>
              <a:rPr sz="2400" b="0" dirty="0">
                <a:latin typeface="Calibri"/>
              </a:rPr>
              <a:t>  SVM 0.9969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dirty="0">
                <a:solidFill>
                  <a:srgbClr val="B86F2E"/>
                </a:solidFill>
                <a:latin typeface="Calibri"/>
              </a:rPr>
              <a:t>False negatives: 0 in both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997412"/>
            <a:ext cx="1036015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dirty="0">
                <a:latin typeface="Calibri"/>
              </a:rPr>
              <a:t>Confusion matrix output: caught all 1,200 of 1,200 seizure recordings; only 4-5 false alarms.</a:t>
            </a:r>
          </a:p>
        </p:txBody>
      </p:sp>
      <p:pic>
        <p:nvPicPr>
          <p:cNvPr id="13" name="Picture 12" descr="ss_results_table.png">
            <a:extLst>
              <a:ext uri="{FF2B5EF4-FFF2-40B4-BE49-F238E27FC236}">
                <a16:creationId xmlns:a16="http://schemas.microsoft.com/office/drawing/2014/main" id="{F1B618D7-FE2D-E1F0-0126-89899929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3" y="2104649"/>
            <a:ext cx="5763395" cy="2989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IN" sz="2200" b="1" dirty="0">
                <a:solidFill>
                  <a:srgbClr val="1F6E60"/>
                </a:solidFill>
                <a:latin typeface="Calibri"/>
              </a:rPr>
              <a:t>RESULTS - ESR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The dataset showed a real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2A2E35"/>
                </a:solidFill>
                <a:latin typeface="Calibri"/>
              </a:rPr>
              <a:t>SVM (RBF)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54C42"/>
                </a:solidFill>
                <a:latin typeface="Calibri"/>
              </a:rPr>
              <a:t>Recall 0.965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dirty="0">
                <a:latin typeface="Calibri"/>
              </a:rPr>
              <a:t>Missed 16 seizures / 41 false alarms (code output)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606040"/>
            <a:ext cx="13716" cy="2194560"/>
          </a:xfrm>
          <a:prstGeom prst="rect">
            <a:avLst/>
          </a:prstGeom>
          <a:solidFill>
            <a:srgbClr val="D9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A2E35"/>
                </a:solidFill>
                <a:latin typeface="Calibri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B86F2E"/>
                </a:solidFill>
                <a:latin typeface="Calibri"/>
              </a:rPr>
              <a:t>Recall 0.891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dirty="0">
                <a:latin typeface="Calibri"/>
              </a:rPr>
              <a:t>Missed 50 seizures / 14 false alarms (code output)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255" y="5317123"/>
            <a:ext cx="1036015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dirty="0">
                <a:latin typeface="Calibri"/>
              </a:rPr>
              <a:t>On raw EEG signals the SVM catches more seizures but raises more false alarms</a:t>
            </a:r>
            <a:r>
              <a:rPr lang="en-US" sz="2000" dirty="0">
                <a:latin typeface="Calibri"/>
              </a:rPr>
              <a:t> and </a:t>
            </a:r>
            <a:r>
              <a:rPr sz="2000" b="0" dirty="0">
                <a:latin typeface="Calibri"/>
              </a:rPr>
              <a:t>the Random Forest does the reverse.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6133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1F6E60"/>
                </a:solidFill>
                <a:latin typeface="Calibri"/>
              </a:rPr>
              <a:t>T</a:t>
            </a:r>
            <a:r>
              <a:rPr lang="en-US" sz="2200" b="1" dirty="0">
                <a:solidFill>
                  <a:srgbClr val="1F6E60"/>
                </a:solidFill>
                <a:latin typeface="Calibri"/>
              </a:rPr>
              <a:t>EST THE BEED NUMBER</a:t>
            </a:r>
            <a:endParaRPr sz="22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 dirty="0">
                <a:solidFill>
                  <a:srgbClr val="2A2E35"/>
                </a:solidFill>
                <a:latin typeface="Calibri"/>
              </a:rPr>
              <a:t>Two </a:t>
            </a:r>
            <a:r>
              <a:rPr lang="en-US" sz="3300" b="1" dirty="0">
                <a:solidFill>
                  <a:srgbClr val="2A2E35"/>
                </a:solidFill>
                <a:latin typeface="Calibri"/>
              </a:rPr>
              <a:t>Different </a:t>
            </a:r>
            <a:r>
              <a:rPr sz="3300" b="1" dirty="0">
                <a:solidFill>
                  <a:srgbClr val="2A2E35"/>
                </a:solidFill>
                <a:latin typeface="Calibri"/>
              </a:rPr>
              <a:t>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1910188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2682621" y="2299120"/>
            <a:ext cx="1036015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154C42"/>
                </a:solidFill>
                <a:latin typeface="Calibri"/>
              </a:rPr>
              <a:t>Near-duplicate check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22" y="2846196"/>
            <a:ext cx="316611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2000" b="0" dirty="0">
                <a:latin typeface="Calibri"/>
              </a:rPr>
              <a:t>1,207 of 1,600 test rows sit within distance 1 of a training row - very similar recordings.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3370" y="2382989"/>
            <a:ext cx="1036015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154C42"/>
                </a:solidFill>
                <a:latin typeface="Calibri"/>
              </a:rPr>
              <a:t>Whole-block split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7172" y="2873680"/>
            <a:ext cx="334899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2000" b="0" dirty="0">
                <a:latin typeface="Calibri"/>
              </a:rPr>
              <a:t>Held out whole 200-row blocks - accuracy stayed 0.9962 (RF) / 0.9969 (SVM).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0025" y="4702688"/>
            <a:ext cx="3666842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dirty="0">
                <a:solidFill>
                  <a:srgbClr val="B86F2E"/>
                </a:solidFill>
                <a:latin typeface="Calibri"/>
              </a:rPr>
              <a:t>So the score is not a random-split artefact - but it also confirms BEED has many repeat recordings.</a:t>
            </a:r>
          </a:p>
        </p:txBody>
      </p:sp>
      <p:pic>
        <p:nvPicPr>
          <p:cNvPr id="13" name="Picture 12" descr="ss_nn_check.png">
            <a:extLst>
              <a:ext uri="{FF2B5EF4-FFF2-40B4-BE49-F238E27FC236}">
                <a16:creationId xmlns:a16="http://schemas.microsoft.com/office/drawing/2014/main" id="{021B1389-E0E6-14DB-3911-27F5A1A09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69" y="4033820"/>
            <a:ext cx="6022599" cy="2469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1F6E60"/>
                </a:solidFill>
                <a:latin typeface="Calibri"/>
              </a:rPr>
              <a:t>WHAT DRIVES THE BEED SCORE - ONE MORE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A single easy feature cannot explain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26330" y="1926484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5958" y="2116812"/>
            <a:ext cx="1036015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 dirty="0">
                <a:solidFill>
                  <a:srgbClr val="154C42"/>
                </a:solidFill>
                <a:latin typeface="Calibri"/>
              </a:rPr>
              <a:t>81.0%     AUC 0.615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6562"/>
            <a:ext cx="10360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dirty="0">
                <a:latin typeface="Calibri"/>
              </a:rPr>
              <a:t>A logistic regression on mean channel amplitude alone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0080" y="4360783"/>
            <a:ext cx="3503785" cy="1744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dirty="0">
                <a:latin typeface="Calibri"/>
              </a:rPr>
              <a:t>The near-perfect result needs the combination of channel features, not one amplitude shortcut.</a:t>
            </a:r>
            <a:endParaRPr lang="en-IN" sz="2200" b="0" dirty="0">
              <a:latin typeface="Calibri"/>
            </a:endParaRPr>
          </a:p>
          <a:p>
            <a:pPr algn="ctr">
              <a:spcAft>
                <a:spcPts val="400"/>
              </a:spcAft>
            </a:pPr>
            <a:endParaRPr sz="2200" b="0" dirty="0">
              <a:latin typeface="Calibri"/>
            </a:endParaRPr>
          </a:p>
        </p:txBody>
      </p:sp>
      <p:pic>
        <p:nvPicPr>
          <p:cNvPr id="11" name="Picture 10" descr="ss_baseline.png">
            <a:extLst>
              <a:ext uri="{FF2B5EF4-FFF2-40B4-BE49-F238E27FC236}">
                <a16:creationId xmlns:a16="http://schemas.microsoft.com/office/drawing/2014/main" id="{289A0DB9-920A-CA37-237B-9EDC6184A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3801979"/>
            <a:ext cx="7329350" cy="23702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A56C6C-A4E2-1AAF-4008-E6E3B5060830}"/>
              </a:ext>
            </a:extLst>
          </p:cNvPr>
          <p:cNvSpPr txBox="1"/>
          <p:nvPr/>
        </p:nvSpPr>
        <p:spPr>
          <a:xfrm>
            <a:off x="2270215" y="6180687"/>
            <a:ext cx="430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A707A"/>
                </a:solidFill>
              </a:rPr>
              <a:t>Single-feature baseline (the 81% check)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IN" sz="2200" b="1" dirty="0">
                <a:solidFill>
                  <a:srgbClr val="1F6E60"/>
                </a:solidFill>
                <a:latin typeface="Calibri"/>
              </a:rPr>
              <a:t>WHAT ACTUALLY HAPPENED ?</a:t>
            </a:r>
            <a:endParaRPr sz="22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3300" b="1" dirty="0">
                <a:solidFill>
                  <a:srgbClr val="2A2E35"/>
                </a:solidFill>
                <a:latin typeface="Calibri"/>
              </a:rPr>
              <a:t>The </a:t>
            </a:r>
            <a:r>
              <a:rPr sz="3300" b="1" dirty="0">
                <a:solidFill>
                  <a:srgbClr val="2A2E35"/>
                </a:solidFill>
                <a:latin typeface="Calibri"/>
              </a:rPr>
              <a:t>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246888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154C42"/>
                </a:solidFill>
                <a:latin typeface="Calibri"/>
              </a:rPr>
              <a:t>Feasible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25524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On both datasets both models separated seizure from non-seizure (AUC 0.996-1.000).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42900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Trade-off is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On ESR the code shows the SVM missed 16 while the RF missed 50 seizures - fewer misses, more false alarms.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389120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Near-perfect needs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481453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BEED's </a:t>
            </a:r>
            <a:r>
              <a:rPr lang="en-US" b="0" dirty="0">
                <a:latin typeface="Calibri"/>
              </a:rPr>
              <a:t>~</a:t>
            </a:r>
            <a:r>
              <a:rPr b="0" dirty="0">
                <a:latin typeface="Calibri"/>
              </a:rPr>
              <a:t>99.7% survives the block split but close </a:t>
            </a:r>
            <a:r>
              <a:rPr b="0" dirty="0" err="1">
                <a:latin typeface="Calibri"/>
              </a:rPr>
              <a:t>neighbours</a:t>
            </a:r>
            <a:r>
              <a:rPr b="0" dirty="0">
                <a:latin typeface="Calibri"/>
              </a:rPr>
              <a:t> (1,207/1,600) explain part of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Interpretation is dataset-bound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438001"/>
            <a:ext cx="5852160" cy="60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BEED: engineered features. ESR: raw signal.</a:t>
            </a:r>
            <a:endParaRPr lang="en-US" b="0" dirty="0"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 One score cannot be </a:t>
            </a:r>
            <a:r>
              <a:rPr b="0" dirty="0" err="1">
                <a:latin typeface="Calibri"/>
              </a:rPr>
              <a:t>generalised</a:t>
            </a:r>
            <a:r>
              <a:rPr b="0" dirty="0">
                <a:latin typeface="Calibri"/>
              </a:rPr>
              <a:t> to the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1F6E60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A2E35"/>
                </a:solidFill>
                <a:latin typeface="Calibri"/>
              </a:rPr>
              <a:t>What these numbers do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246888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154C42"/>
                </a:solidFill>
                <a:latin typeface="Calibri"/>
              </a:rPr>
              <a:t>Not patient-level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BEED has no subject IDs and only 20 subjects per class - the CSV cannot prove it </a:t>
            </a:r>
            <a:r>
              <a:rPr b="0" dirty="0" err="1">
                <a:latin typeface="Calibri"/>
              </a:rPr>
              <a:t>generalises</a:t>
            </a:r>
            <a:r>
              <a:rPr b="0" dirty="0">
                <a:latin typeface="Calibri"/>
              </a:rPr>
              <a:t> to new patients.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42900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Leakage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latin typeface="Calibri"/>
              </a:rPr>
              <a:t>Very similar recordings appear across the split, so the score is optimistic vs unseen patient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38912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No external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389120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latin typeface="Calibri"/>
              </a:rPr>
              <a:t>Both datasets are public and self-contained</a:t>
            </a:r>
            <a:r>
              <a:rPr lang="en-US" dirty="0">
                <a:latin typeface="Calibri"/>
              </a:rPr>
              <a:t>,</a:t>
            </a:r>
            <a:r>
              <a:rPr b="0" dirty="0">
                <a:latin typeface="Calibri"/>
              </a:rPr>
              <a:t> no independent hospital data was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Two models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349240"/>
            <a:ext cx="5852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latin typeface="Calibri"/>
              </a:rPr>
              <a:t>No hyperparameter tuning and no deep learning were explored - scope of this case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3601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dirty="0">
                <a:solidFill>
                  <a:srgbClr val="B86F2E"/>
                </a:solidFill>
                <a:latin typeface="Calibri"/>
              </a:rPr>
              <a:t>The scores describe this dataset's test set, not unseen patients.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1F6E60"/>
                </a:solidFill>
                <a:latin typeface="Calibri"/>
              </a:rPr>
              <a:t>WHAT HAPPENS</a:t>
            </a:r>
            <a:r>
              <a:rPr lang="en-US" sz="2200" b="1" dirty="0">
                <a:solidFill>
                  <a:srgbClr val="1F6E60"/>
                </a:solidFill>
                <a:latin typeface="Calibri"/>
              </a:rPr>
              <a:t>?</a:t>
            </a:r>
            <a:endParaRPr sz="2200" b="1" dirty="0">
              <a:solidFill>
                <a:srgbClr val="1F6E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dirty="0">
                <a:solidFill>
                  <a:srgbClr val="2A2E35"/>
                </a:solidFill>
                <a:latin typeface="Calibri"/>
              </a:rPr>
              <a:t>From a benchmark to something testable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6576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6E6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4510" y="2514600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154C42"/>
                </a:solidFill>
                <a:latin typeface="Calibri"/>
              </a:rPr>
              <a:t>Validate at patient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8152" y="2554962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b="0" dirty="0">
                <a:solidFill>
                  <a:srgbClr val="2A2E35"/>
                </a:solidFill>
                <a:latin typeface="Calibri"/>
              </a:rPr>
              <a:t>Get subject IDs or use BEED's documented 200-row subject blocks as a true subject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6E6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510" y="3429000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Test new 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469362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b="0">
                <a:solidFill>
                  <a:srgbClr val="2A2E35"/>
                </a:solidFill>
                <a:latin typeface="Calibri"/>
              </a:rPr>
              <a:t>Fit on one release, score on untouched subjects - the only realistic measure for clinical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43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6E6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510" y="4343400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Extend the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383762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b="0" dirty="0">
                <a:solidFill>
                  <a:srgbClr val="2A2E35"/>
                </a:solidFill>
                <a:latin typeface="Calibri"/>
              </a:rPr>
              <a:t>Add tuning, error analysis and integration work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57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6E6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4510" y="5257800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4C42"/>
                </a:solidFill>
                <a:latin typeface="Calibri"/>
              </a:rPr>
              <a:t>Keep it 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5298162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b="0" dirty="0">
                <a:solidFill>
                  <a:srgbClr val="2A2E35"/>
                </a:solidFill>
                <a:latin typeface="Calibri"/>
              </a:rPr>
              <a:t>Fixed seed</a:t>
            </a:r>
            <a:r>
              <a:rPr lang="en-US" b="0" dirty="0">
                <a:solidFill>
                  <a:srgbClr val="2A2E35"/>
                </a:solidFill>
                <a:latin typeface="Calibri"/>
              </a:rPr>
              <a:t> and</a:t>
            </a:r>
            <a:r>
              <a:rPr b="0" dirty="0">
                <a:solidFill>
                  <a:srgbClr val="2A2E35"/>
                </a:solidFill>
                <a:latin typeface="Calibri"/>
              </a:rPr>
              <a:t> documented transforms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376" y="246480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dirty="0">
                <a:solidFill>
                  <a:srgbClr val="1F6E60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4954" y="888407"/>
            <a:ext cx="498763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2400" b="0" dirty="0">
                <a:latin typeface="Calibri"/>
              </a:rPr>
              <a:t>▪  A yes/no EEG question is learnable with both a Random Forest and an SVM.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8781" y="826790"/>
            <a:ext cx="5081155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0" dirty="0">
                <a:latin typeface="Calibri"/>
              </a:rPr>
              <a:t>▪  The code caught all 1,200 BEED seizures and reached 97%+ accuracy on both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8794" y="1947507"/>
            <a:ext cx="4987637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2400" b="0" dirty="0">
                <a:latin typeface="Calibri"/>
              </a:rPr>
              <a:t>▪  On harder ESR data, the model choice is a real trade-off between misses and false alarms.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8781" y="2081035"/>
            <a:ext cx="5278581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0" dirty="0">
                <a:latin typeface="Calibri"/>
              </a:rPr>
              <a:t>▪  Scores are dataset-bound proving</a:t>
            </a:r>
            <a:r>
              <a:rPr lang="en-US" sz="2400" b="0" dirty="0">
                <a:latin typeface="Calibri"/>
              </a:rPr>
              <a:t>,</a:t>
            </a:r>
            <a:r>
              <a:rPr sz="2400" b="0" dirty="0">
                <a:latin typeface="Calibri"/>
              </a:rPr>
              <a:t> clinical value needs patient-level testing next.</a:t>
            </a:r>
          </a:p>
        </p:txBody>
      </p:sp>
      <p:pic>
        <p:nvPicPr>
          <p:cNvPr id="13" name="Picture 12" descr="code_performance_comparison.png">
            <a:extLst>
              <a:ext uri="{FF2B5EF4-FFF2-40B4-BE49-F238E27FC236}">
                <a16:creationId xmlns:a16="http://schemas.microsoft.com/office/drawing/2014/main" id="{9FCA46E1-7CFE-6317-3696-5F0DA587F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684" y="3287571"/>
            <a:ext cx="7091494" cy="3509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6541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Acknowledgement of GenAI use: I used Gemini to help me understand the requirements and data analysis. This tool supported me in drafting an outline of the key requirements and suggesting a possible flow. I applied my logic to develop the overall work and I did not copy any content from Gemini’s result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-3596502" y="671590"/>
            <a:ext cx="1127455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dirty="0">
                <a:solidFill>
                  <a:srgbClr val="2A2E35"/>
                </a:solidFill>
                <a:latin typeface="Calibri"/>
              </a:rPr>
              <a:t>References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6374" y="1376171"/>
            <a:ext cx="3042214" cy="45719"/>
          </a:xfrm>
          <a:prstGeom prst="rect">
            <a:avLst/>
          </a:prstGeom>
          <a:solidFill>
            <a:srgbClr val="1F6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" y="1745947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dirty="0">
                <a:solidFill>
                  <a:srgbClr val="154C42"/>
                </a:solidFill>
                <a:latin typeface="Calibri"/>
              </a:rP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0130" y="2162996"/>
            <a:ext cx="9577892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700" dirty="0"/>
              <a:t>[1] N. </a:t>
            </a:r>
            <a:r>
              <a:rPr lang="en-IN" sz="1700" dirty="0" err="1"/>
              <a:t>Najmusseher</a:t>
            </a:r>
            <a:r>
              <a:rPr lang="en-IN" sz="1700" dirty="0"/>
              <a:t> and P. K. N. Banu, "BEED: Bangalore EEG Epilepsy Dataset," UCI Machine Learning Repository, 2024. [Online]. Available: </a:t>
            </a:r>
            <a:r>
              <a:rPr lang="en-IN" sz="17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https://archive.ics.uci.edu/dataset/1134/beed:+bangalore+eeg+epilepsy+dataset</a:t>
            </a:r>
            <a:r>
              <a:rPr lang="en-IN" sz="1700" dirty="0"/>
              <a:t> </a:t>
            </a:r>
          </a:p>
          <a:p>
            <a:endParaRPr lang="en-IN" sz="1700" dirty="0"/>
          </a:p>
          <a:p>
            <a:r>
              <a:rPr lang="en-IN" sz="1700" dirty="0"/>
              <a:t>[2]M. Harun-Ur-Rashid, "Epileptic Seizure Recognition," Kaggle Datasets, 2018. [Online]. Available: </a:t>
            </a:r>
            <a:r>
              <a:rPr lang="en-IN" sz="17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https://www.kaggle.com/datasets/harunshimanto/epileptic-seizure-recognition</a:t>
            </a:r>
            <a:r>
              <a:rPr lang="en-IN" sz="1700" dirty="0"/>
              <a:t>.</a:t>
            </a:r>
          </a:p>
          <a:p>
            <a:endParaRPr lang="en-IN" sz="1700" dirty="0"/>
          </a:p>
          <a:p>
            <a:r>
              <a:rPr lang="en-IN" sz="1700" dirty="0"/>
              <a:t>Apart from this, I also referred to course lecture videos and slides to understand the requirements.</a:t>
            </a:r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6355080" y="2468880"/>
            <a:ext cx="13716" cy="3840480"/>
          </a:xfrm>
          <a:prstGeom prst="rect">
            <a:avLst/>
          </a:prstGeom>
          <a:solidFill>
            <a:srgbClr val="D9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1020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Janeika J</dc:creator>
  <cp:keywords/>
  <dc:description>generated using python-pptx</dc:description>
  <cp:lastModifiedBy>Janeika J</cp:lastModifiedBy>
  <cp:revision>37</cp:revision>
  <dcterms:created xsi:type="dcterms:W3CDTF">2013-01-27T09:14:16Z</dcterms:created>
  <dcterms:modified xsi:type="dcterms:W3CDTF">2026-08-14T01:34:23Z</dcterms:modified>
  <cp:category/>
</cp:coreProperties>
</file>